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NEMUNAI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563EB"/>
                </a:solidFill>
                <a:latin typeface="Calibri"/>
              </a:defRPr>
            </a:pPr>
            <a:r>
              <a:t>〜寝ない〜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12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5E7EB"/>
                </a:solidFill>
                <a:latin typeface="Calibri"/>
              </a:defRPr>
            </a:pPr>
            <a:r>
              <a:t>眠気を検知し、運動で覚醒させる。ブラウザだけで。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Soma Kaibuchi  /  Yuya Tokumitsu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0" y="5486400"/>
            <a:ext cx="45720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5486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B7280"/>
                </a:solidFill>
                <a:latin typeface="Calibri"/>
              </a:defRPr>
            </a:pPr>
            <a:r>
              <a:t>KOSENJIN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居眠りは「あるある」ではない。社会問題だ。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OECD最下位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日本の睡眠時間</a:t>
            </a:r>
            <a:br/>
            <a:r>
              <a:t>先進国33カ国中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560320" cy="20116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563EB"/>
                </a:solidFill>
                <a:latin typeface="Calibri"/>
              </a:defRPr>
            </a:pPr>
            <a:r>
              <a:t>70%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20代の7割が</a:t>
            </a:r>
            <a:br/>
            <a:r>
              <a:t>7時間未満の睡眠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20116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Calibri"/>
              </a:defRPr>
            </a:pPr>
            <a:r>
              <a:t>$136B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居眠りによる</a:t>
            </a:r>
            <a:br/>
            <a:r>
              <a:t>生産性損失（米国/年）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560320" cy="2011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0116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C2626"/>
                </a:solidFill>
                <a:latin typeface="Calibri"/>
              </a:defRPr>
            </a:pPr>
            <a:r>
              <a:t>6,400人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8346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居眠り運転による</a:t>
            </a:r>
            <a:br/>
            <a:r>
              <a:t>死亡者数（米国/年）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89120"/>
            <a:ext cx="10515600" cy="10972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DC2626"/>
                </a:solidFill>
                <a:latin typeface="Calibri"/>
              </a:defRPr>
            </a:pPr>
            <a:r>
              <a:t>既存の解決策は「アラームを鸣らすだけ」。</a:t>
            </a:r>
          </a:p>
          <a:p>
            <a:pPr algn="ctr">
              <a:spcAft>
                <a:spcPts val="800"/>
              </a:spcAft>
              <a:defRPr sz="2200" b="1">
                <a:solidFill>
                  <a:srgbClr val="DC2626"/>
                </a:solidFill>
                <a:latin typeface="Calibri"/>
              </a:defRPr>
            </a:pPr>
            <a:r>
              <a:t>止めて、また寝る。これが現実。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Sources: OECD 2021, NSC, Sleep Foundation, Japan Ministry of Health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NEMUNAIは「検知」で終わらない。「覚醒」まで完結する。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926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9260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201168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検知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カメラでEAR</a:t>
            </a:r>
            <a:br/>
            <a:r>
              <a:t>(Eye Aspect Ratio)</a:t>
            </a:r>
            <a:br/>
            <a:r>
              <a:t>をリアルタイム計測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828800"/>
            <a:ext cx="2926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828800"/>
            <a:ext cx="29260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394960" y="2011680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59E0B"/>
                </a:solidFill>
                <a:latin typeface="Calibri"/>
              </a:defRPr>
            </a:pPr>
            <a:r>
              <a:t>警告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3秒間の閉眼で</a:t>
            </a:r>
            <a:br/>
            <a:r>
              <a:t>アラーム発動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828800"/>
            <a:ext cx="2926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1828800"/>
            <a:ext cx="29260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0" y="2011680"/>
            <a:ext cx="502920" cy="5029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26060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Calibri"/>
              </a:defRPr>
            </a:pPr>
            <a:r>
              <a:t>覚醒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017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スクワット5回の</a:t>
            </a:r>
            <a:br/>
            <a:r>
              <a:t>完遊で解除</a:t>
            </a:r>
            <a:br/>
            <a:r>
              <a:t>（ポーズAIが判定）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480560"/>
            <a:ext cx="3291840" cy="822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563EB"/>
                </a:solidFill>
                <a:latin typeface="Calibri"/>
              </a:defRPr>
            </a:pPr>
            <a:r>
              <a:t>インストール不要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t>ブラウザだけで動く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480560"/>
            <a:ext cx="329184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891B2"/>
                </a:solidFill>
                <a:latin typeface="Calibri"/>
              </a:defRPr>
            </a:pPr>
            <a:r>
              <a:t>サーバー不要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t>全処理がデバイス上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480560"/>
            <a:ext cx="3291840" cy="822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C3AED"/>
                </a:solidFill>
                <a:latin typeface="Calibri"/>
              </a:defRPr>
            </a:pPr>
            <a:r>
              <a:t>プライバシー完全保護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892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1F2937"/>
                </a:solidFill>
                <a:latin typeface="Calibri"/>
              </a:defRPr>
            </a:pPr>
            <a:r>
              <a:t>データがデバイスから出ない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デモ — 実際に体験してください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2560320"/>
            <a:ext cx="1280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63347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63347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5E7EB"/>
                </a:solidFill>
                <a:latin typeface="Calibri"/>
              </a:defRPr>
            </a:pPr>
            <a:r>
              <a:t>ブラウザでURLを開くだけ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3337560"/>
            <a:ext cx="1280160" cy="5943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341071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341071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5E7EB"/>
                </a:solidFill>
                <a:latin typeface="Calibri"/>
              </a:defRPr>
            </a:pPr>
            <a:r>
              <a:t>顔ランドマーク表示 + 覚醒レベルバー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114800"/>
            <a:ext cx="1280160" cy="5943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418795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1879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5E7EB"/>
                </a:solidFill>
                <a:latin typeface="Calibri"/>
              </a:defRPr>
            </a:pPr>
            <a:r>
              <a:t>目を閉じて3秒 → アラーム発動 + Discordに晒らし投稿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28800" y="4892040"/>
            <a:ext cx="128016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0" y="496519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SQUAT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96519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5E7EB"/>
                </a:solidFill>
                <a:latin typeface="Calibri"/>
              </a:defRPr>
            </a:pPr>
            <a:r>
              <a:t>スクワット5回でカウント → 解除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669280"/>
            <a:ext cx="1280160" cy="5943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5742432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RETURN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574243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E5E7EB"/>
                </a:solidFill>
                <a:latin typeface="Calibri"/>
              </a:defRPr>
            </a:pPr>
            <a:r>
              <a:t>覚醒状態で監視モードに復帰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審査員の皆さんも、今夜試せます。URLを開くだけです。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実際に使った人の声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029200" cy="2286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2563EB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0116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アイデアがおもしろい。</a:t>
            </a:r>
            <a:br/>
            <a:r>
              <a:t>スクワット、いねむりの検知もスムーズ。</a:t>
            </a:r>
            <a:br/>
            <a:r>
              <a:t>Discordに勝手に晒らされるのが面白い。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  <a:latin typeface="Calibri"/>
              </a:defRPr>
            </a:pPr>
            <a:r>
              <a:t>— 荒川さん（高専生）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5029200" cy="22860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0B981"/>
                </a:solidFill>
                <a:latin typeface="Calibri"/>
              </a:defRPr>
            </a:pPr>
            <a:r>
              <a:t>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1168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937"/>
                </a:solidFill>
                <a:latin typeface="Calibri"/>
              </a:defRPr>
            </a:pPr>
            <a:r>
              <a:t>けだるさがなくなった。しゃきっとした。</a:t>
            </a:r>
            <a:br/>
            <a:r>
              <a:t>スクワットは全身運動で、</a:t>
            </a:r>
            <a:br/>
            <a:r>
              <a:t>眠気覚ましにいい。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70332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Calibri"/>
              </a:defRPr>
            </a:pPr>
            <a:r>
              <a:t>— 梶山さん（高専生）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F2937"/>
                </a:solidFill>
                <a:latin typeface="Calibri"/>
              </a:defRPr>
            </a:pPr>
            <a:r>
              <a:t>ユーザーテスト結果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937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Calibri"/>
              </a:defRPr>
            </a:pPr>
            <a:r>
              <a:t>✔ 2人中2人が「覚醒効果あり」と回答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32180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563EB"/>
                </a:solidFill>
                <a:latin typeface="Calibri"/>
              </a:defRPr>
            </a:pPr>
            <a:r>
              <a:t>✔ 居眠り検知・スクワット判定ともに「スムーズ」と評価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705856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B65EA"/>
                </a:solidFill>
                <a:latin typeface="Calibri"/>
              </a:defRPr>
            </a:pPr>
            <a:r>
              <a:t>✔ Discord晒らし機能が「面白い」→ バイラルの種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6126480"/>
            <a:ext cx="10515600" cy="41148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6144768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Calibri"/>
              </a:defRPr>
            </a:pPr>
            <a:r>
              <a:t>改善要望 = PMFのサイン: 「回数調整」「ストレッチ追加」「秒数変更」→ もっと使いたいという声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エッジAIの爆発的成長が、このプロダクトを可能にした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560320" cy="2194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563EB"/>
                </a:solidFill>
                <a:latin typeface="Calibri"/>
              </a:defRPr>
            </a:pPr>
            <a:r>
              <a:t>$23B → $197B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エッジAI市場（2034年）</a:t>
            </a:r>
            <a:br/>
            <a:r>
              <a:t>CAGR 23.8%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828800"/>
            <a:ext cx="2560320" cy="2194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891B2"/>
                </a:solidFill>
                <a:latin typeface="Calibri"/>
              </a:defRPr>
            </a:pPr>
            <a:r>
              <a:t>WebGPU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2025年、主要ブラウザ全対応</a:t>
            </a:r>
            <a:br/>
            <a:r>
              <a:t>ブラウザでGPU推論が現実に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2560320" cy="21945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3AED"/>
                </a:solidFill>
                <a:latin typeface="Calibri"/>
              </a:defRPr>
            </a:pPr>
            <a:r>
              <a:t>91%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ユーザーがオンデバイスAI</a:t>
            </a:r>
            <a:br/>
            <a:r>
              <a:t>処理を好むと回答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828800"/>
            <a:ext cx="2560320" cy="21945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205740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0B981"/>
                </a:solidFill>
                <a:latin typeface="Calibri"/>
              </a:defRPr>
            </a:pPr>
            <a:r>
              <a:t>60 FPS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83464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F2937"/>
                </a:solidFill>
                <a:latin typeface="Calibri"/>
              </a:defRPr>
            </a:pPr>
            <a:r>
              <a:t>MediaPipeで顔468点+体33点</a:t>
            </a:r>
            <a:br/>
            <a:r>
              <a:t>リアルタイム検知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0" y="4480560"/>
            <a:ext cx="758952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86000" y="448056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563EB"/>
                </a:solidFill>
                <a:latin typeface="Calibri"/>
              </a:defRPr>
            </a:pPr>
            <a:r>
              <a:t>2年前は不可能だった。今だからこそできる。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120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Sources: market.us, Protecto AI Privacy Report 2025, Google MediaPipe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$8.9Bの市場に、ソフトウェアで切り込む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200400" cy="2560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691640" y="1965960"/>
            <a:ext cx="91440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2563EB"/>
                </a:solidFill>
                <a:latin typeface="Calibri"/>
              </a:defRPr>
            </a:pPr>
            <a:r>
              <a:t>$27.2B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居眠り検知システム</a:t>
            </a:r>
            <a:br/>
            <a:r>
              <a:t>市場全体（2034年）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1828800"/>
            <a:ext cx="3200400" cy="2560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257800" y="1965960"/>
            <a:ext cx="91440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5780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891B2"/>
                </a:solidFill>
                <a:latin typeface="Calibri"/>
              </a:defRPr>
            </a:pPr>
            <a:r>
              <a:t>$3.5B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ソフトウェアベースDMS +</a:t>
            </a:r>
            <a:br/>
            <a:r>
              <a:t>学習・労働生産性ツール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828800"/>
            <a:ext cx="3200400" cy="2560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23960" y="1965960"/>
            <a:ext cx="91440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960" y="1965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24688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B981"/>
                </a:solidFill>
                <a:latin typeface="Calibri"/>
              </a:defRPr>
            </a:pPr>
            <a:r>
              <a:t>$50M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20040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F2937"/>
                </a:solidFill>
                <a:latin typeface="Calibri"/>
              </a:defRPr>
            </a:pPr>
            <a:r>
              <a:t>日本の学生・</a:t>
            </a:r>
            <a:br/>
            <a:r>
              <a:t>リモートワーカー・</a:t>
            </a:r>
            <a:br/>
            <a:r>
              <a:t>中小運送業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846320"/>
            <a:ext cx="10515600" cy="82296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Calibri"/>
              </a:defRPr>
            </a:pPr>
            <a:r>
              <a:t>既存プレイヤーは全てハードウェア依存（$500〜$5,000/台）。NEMUNAIは限界費用ほぼゼロ。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Sources: market.us, GM Insights, Grand View Research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なぜNEMUNAIが勝てるのか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20240"/>
                <a:gridCol w="1920240"/>
                <a:gridCol w="1920240"/>
                <a:gridCol w="292608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車載DMS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専用デバイス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アラームアプリ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NEMUNAI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コスト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$500〜5,000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$200〜500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無料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無料 / Freemium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インストール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車両組込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デバイス購入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アプリDL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URLを開くだけ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覚醒アクション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スクワット判定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プライバシー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クラウド送信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クラウド送信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ローカル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完全ローカル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ソーシャル機能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なし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Discord晒らし</a:t>
                      </a:r>
                    </a:p>
                  </a:txBody>
                  <a:tcPr>
                    <a:solidFill>
                      <a:srgbClr val="DBEAF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利用場所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車内のみ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固定場所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どこでも</a:t>
                      </a:r>
                    </a:p>
                  </a:txBody>
                  <a:tcPr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どこでも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ブラウザネイティブAIという技術的優位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96012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73152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88720" y="190195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React 19 + TypeScript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48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モダンWeb技術スタック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06040"/>
            <a:ext cx="96012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606040"/>
            <a:ext cx="73152" cy="64008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88720" y="2679192"/>
            <a:ext cx="457200" cy="457200"/>
          </a:xfrm>
          <a:prstGeom prst="ellipse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517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MediaPipe FaceLandmarker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2926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468点の顔特徴点でEAR算出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383280"/>
            <a:ext cx="96012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3383280"/>
            <a:ext cx="73152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88720" y="3456432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429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MediaPipe PoseLandmarker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03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33点の体関節でスクワット判定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160520"/>
            <a:ext cx="96012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4400" y="4160520"/>
            <a:ext cx="73152" cy="6400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88720" y="4233672"/>
            <a:ext cx="457200" cy="45720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206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誤検知防止アルゴリズム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4805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3フレーム連続一致 + 800msクールダウン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37760"/>
            <a:ext cx="9601200" cy="6400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937760"/>
            <a:ext cx="73152" cy="640080"/>
          </a:xfrm>
          <a:prstGeom prst="rect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8720" y="5010912"/>
            <a:ext cx="457200" cy="457200"/>
          </a:xfrm>
          <a:prstGeom prst="ellipse">
            <a:avLst/>
          </a:prstGeom>
          <a:solidFill>
            <a:srgbClr val="5B6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9834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Calibri"/>
              </a:defRPr>
            </a:pPr>
            <a:r>
              <a:t>Discord Webhook連携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52578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7280"/>
                </a:solidFill>
                <a:latin typeface="Calibri"/>
              </a:defRPr>
            </a:pPr>
            <a:r>
              <a:t>居眠りスクショを自動投稿 → ソーシャルプレッシャーで覚醒促進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71600" y="5760720"/>
            <a:ext cx="9144000" cy="5486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5806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563EB"/>
                </a:solidFill>
                <a:latin typeface="Calibri"/>
              </a:defRPr>
            </a:pPr>
            <a:r>
              <a:t>サーバーコスト $0。100万ユーザーでも運用コストが増えない。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alibri"/>
              </a:defRPr>
            </a:pPr>
            <a:r>
              <a:t>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1F2937"/>
                </a:solidFill>
                <a:latin typeface="Calibri"/>
              </a:defRPr>
            </a:pPr>
            <a:r>
              <a:t>Discord晒らしでバイラル、B2Bで収益化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828800" cy="50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200400" cy="31089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2004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1965960"/>
            <a:ext cx="16459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1732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1  |  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563EB"/>
                </a:solidFill>
                <a:latin typeface="Calibri"/>
              </a:defRPr>
            </a:pPr>
            <a:r>
              <a:t>無料でバイラル獲得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基本機能を無料提供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Discord晒らし → 友人が試す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「NEMUNAIされた」がSNSで拡散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260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828800"/>
            <a:ext cx="3200400" cy="3108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51960" y="1828800"/>
            <a:ext cx="3200400" cy="54864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965960"/>
            <a:ext cx="1645920" cy="365760"/>
          </a:xfrm>
          <a:prstGeom prst="round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2  |  6ヶ月後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91B2"/>
                </a:solidFill>
                <a:latin typeface="Calibri"/>
              </a:defRPr>
            </a:pPr>
            <a:r>
              <a:t>プレミアム化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覚醒データ分析ダッシュボード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カスタム運動メニュー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PWA化（オフライン対応）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92608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63840" y="1828800"/>
            <a:ext cx="3200400" cy="310896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3840" y="1828800"/>
            <a:ext cx="320040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41080" y="1965960"/>
            <a:ext cx="1645920" cy="36576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19659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Phase 3  |  1年後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24688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7C3AED"/>
                </a:solidFill>
                <a:latin typeface="Calibri"/>
              </a:defRPr>
            </a:pPr>
            <a:r>
              <a:t>B2B展開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92440" y="3017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運送会社向けドライバー管理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3520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企業向け生産性ツール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937"/>
                </a:solidFill>
                <a:latin typeface="Calibri"/>
              </a:defRPr>
            </a:pPr>
            <a:r>
              <a:t>• 教育機関向けライセンス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EDEFFE"/>
          </a:solidFill>
          <a:ln w="12700">
            <a:solidFill>
              <a:srgbClr val="5B6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4924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B65EA"/>
                </a:solidFill>
                <a:latin typeface="Calibri"/>
              </a:defRPr>
            </a:pPr>
            <a:r>
              <a:t>▶ 居眠り検知 → Discordにスクショ投稿 → 友人が笑う → 友人も使う → リピート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  <a:latin typeface="Calibri"/>
              </a:defRPr>
            </a:pPr>
            <a:r>
              <a:t>NEMUNAI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2011680"/>
            <a:ext cx="301752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2563EB"/>
                </a:solidFill>
                <a:latin typeface="Calibri"/>
              </a:defRPr>
            </a:pPr>
            <a:r>
              <a:t>$27B市場に、ゼロコストのソフトウェアで挑む。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E5E7EB"/>
                </a:solidFill>
                <a:latin typeface="Calibri"/>
              </a:defRPr>
            </a:pPr>
            <a:r>
              <a:t>眠気を検知し、運動で覚醒させる。ハードウェア不要。ブラウザだけで。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1447" y="3657600"/>
            <a:ext cx="182880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81447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B7280"/>
                </a:solidFill>
                <a:latin typeface="Calibri"/>
              </a:defRPr>
            </a:pPr>
            <a:r>
              <a:t>[ QR CODE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81447" y="4389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↑ ここにQRを貼る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Calibri"/>
              </a:defRPr>
            </a:pPr>
            <a:r>
              <a:t>今すぐ試せます。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ありがとうございました！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